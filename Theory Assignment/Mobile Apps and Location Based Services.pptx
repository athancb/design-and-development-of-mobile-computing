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18"/>
  </p:notesMasterIdLst>
  <p:sldIdLst>
    <p:sldId id="256" r:id="rId2"/>
    <p:sldId id="268" r:id="rId3"/>
    <p:sldId id="269" r:id="rId4"/>
    <p:sldId id="270" r:id="rId5"/>
    <p:sldId id="271" r:id="rId6"/>
    <p:sldId id="280" r:id="rId7"/>
    <p:sldId id="272" r:id="rId8"/>
    <p:sldId id="273" r:id="rId9"/>
    <p:sldId id="274" r:id="rId10"/>
    <p:sldId id="275" r:id="rId11"/>
    <p:sldId id="281" r:id="rId12"/>
    <p:sldId id="276" r:id="rId13"/>
    <p:sldId id="282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l-G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10254-5503-4A50-96CF-F23DBF5C9B9E}" v="21" dt="2018-11-17T22:16:32.356"/>
    <p1510:client id="{BC109AF0-E4F5-4979-8862-73CB06DA5EB7}" v="94" dt="2018-11-18T15:40:58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59" autoAdjust="0"/>
  </p:normalViewPr>
  <p:slideViewPr>
    <p:cSldViewPr>
      <p:cViewPr varScale="1">
        <p:scale>
          <a:sx n="91" d="100"/>
          <a:sy n="91" d="100"/>
        </p:scale>
        <p:origin x="21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l-GR" altLang="el-GR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l-GR" altLang="el-G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 altLang="el-GR"/>
              <a:t>Click to edit Master text styles</a:t>
            </a:r>
          </a:p>
          <a:p>
            <a:pPr lvl="1"/>
            <a:r>
              <a:rPr lang="el-GR" altLang="el-GR"/>
              <a:t>Second level</a:t>
            </a:r>
          </a:p>
          <a:p>
            <a:pPr lvl="2"/>
            <a:r>
              <a:rPr lang="el-GR" altLang="el-GR"/>
              <a:t>Third level</a:t>
            </a:r>
          </a:p>
          <a:p>
            <a:pPr lvl="3"/>
            <a:r>
              <a:rPr lang="el-GR" altLang="el-GR"/>
              <a:t>Fourth level</a:t>
            </a:r>
          </a:p>
          <a:p>
            <a:pPr lvl="4"/>
            <a:r>
              <a:rPr lang="el-GR" altLang="el-GR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l-GR" altLang="el-GR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E38D41D-8734-4B81-B6C5-7D51D9AB1945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902363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Τριγωνοποίηση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l-GR" dirty="0"/>
              <a:t>Μέσω μέτρησης χρόνου του σήματος υπολογίζεται η απόσταση. Με 3 και πάνω κυψέλες βρίσκουμε με ακρίβεια το στίγμα.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GPS</a:t>
            </a:r>
          </a:p>
          <a:p>
            <a:pPr marL="628650" marR="0" lvl="1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dirty="0"/>
              <a:t>Δημιουργήθηκε από τις ΗΠΑ και αποτελείται από 24 δορυφόρους που περιβάλλουν την Γη</a:t>
            </a: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8D41D-8734-4B81-B6C5-7D51D9AB1945}" type="slidenum">
              <a:rPr lang="el-GR" altLang="el-GR" smtClean="0"/>
              <a:pPr/>
              <a:t>7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00402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331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l-GR" altLang="el-GR" sz="2400">
                <a:latin typeface="Times New Roman" panose="02020603050405020304" pitchFamily="18" charset="0"/>
              </a:endParaRPr>
            </a:p>
          </p:txBody>
        </p:sp>
        <p:sp>
          <p:nvSpPr>
            <p:cNvPr id="1331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l-GR" altLang="el-GR" sz="2400">
                <a:latin typeface="Times New Roman" panose="02020603050405020304" pitchFamily="18" charset="0"/>
              </a:endParaRPr>
            </a:p>
          </p:txBody>
        </p:sp>
        <p:sp>
          <p:nvSpPr>
            <p:cNvPr id="1331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4417 w 1000"/>
                <a:gd name="T3" fmla="*/ 0 h 1000"/>
                <a:gd name="T4" fmla="*/ 4917 w 1000"/>
                <a:gd name="T5" fmla="*/ 500 h 1000"/>
                <a:gd name="T6" fmla="*/ 4417 w 1000"/>
                <a:gd name="T7" fmla="*/ 1000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917" h="1000">
                  <a:moveTo>
                    <a:pt x="0" y="0"/>
                  </a:moveTo>
                  <a:lnTo>
                    <a:pt x="4417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1000"/>
                    <a:pt x="4417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 altLang="el-GR" sz="2400">
                <a:latin typeface="Times New Roman" panose="02020603050405020304" pitchFamily="18" charset="0"/>
              </a:endParaRPr>
            </a:p>
          </p:txBody>
        </p:sp>
        <p:sp>
          <p:nvSpPr>
            <p:cNvPr id="1331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1331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 sz="3400" b="0"/>
            </a:lvl1pPr>
          </a:lstStyle>
          <a:p>
            <a:pPr lvl="0"/>
            <a:r>
              <a:rPr lang="el-GR" altLang="el-GR" noProof="0"/>
              <a:t>Click to edit Master title style</a:t>
            </a:r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l-GR" altLang="el-GR" noProof="0"/>
              <a:t>Click to edit Master subtitle style</a:t>
            </a:r>
          </a:p>
        </p:txBody>
      </p:sp>
      <p:sp>
        <p:nvSpPr>
          <p:cNvPr id="13321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fld id="{FF738263-DAC3-4ECB-BA72-B13801504C74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fld id="{3CB50D9F-6782-4020-AAD2-0E672B2B7F80}" type="slidenum">
              <a:rPr lang="el-GR" altLang="el-GR"/>
              <a:pPr/>
              <a:t>‹#›</a:t>
            </a:fld>
            <a:endParaRPr lang="el-GR" altLang="el-GR"/>
          </a:p>
        </p:txBody>
      </p:sp>
      <p:pic>
        <p:nvPicPr>
          <p:cNvPr id="1026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894829" cy="80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B49077-91D3-4C11-827B-A1EE366B872C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06199-4E63-4D8B-8A88-D7527E45FB0A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1980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DA56B0-3802-4A4F-B203-4D1F8A875619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82A11-9E0D-4B51-A43C-E7EDE6E10E07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24265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586587-93DC-463C-B87A-01F4A6B8D17C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21073-815C-4405-BAEA-003228DE5858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02717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FFD4E8-7229-4510-9E25-E38F76921C6B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36F44-0CD8-408B-A042-79D879D1052A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9898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1FD93F-D0EE-487C-A5C6-9BE2680917A0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3D132-B468-49FE-B251-F8AC89B2ABF7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72172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36C9DD-C4F7-4433-9246-AD45E047DB9E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930D8-1718-485B-80C6-E6E63F7BBB32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06979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1AF333-A5B4-4597-8E11-06C17B21DFE7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50260-244A-471A-A637-C76F4E81C176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70746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78EF0-E3F1-4039-822B-7970CBA2B81D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45D5C-40DC-4AD4-82F5-8B2AF99368C0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35138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3EFF54-27B7-46B9-A5F8-DEC57214FBF3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D0061B-4C2B-4EA5-BB9A-EA9DFD09BD8D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152158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28600"/>
            <a:ext cx="19812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912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31C239-323B-491D-B2A4-6A46668F380F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BFC22-9CBA-4A8B-B628-8D0CA4293E3C}" type="slidenum">
              <a:rPr lang="el-GR" altLang="el-GR"/>
              <a:pPr/>
              <a:t>‹#›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52251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12291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l-GR" altLang="el-GR" sz="2400">
                <a:latin typeface="Times New Roman" panose="02020603050405020304" pitchFamily="18" charset="0"/>
              </a:endParaRPr>
            </a:p>
          </p:txBody>
        </p:sp>
        <p:sp>
          <p:nvSpPr>
            <p:cNvPr id="12292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500 w 1000"/>
                <a:gd name="T3" fmla="*/ 0 h 1000"/>
                <a:gd name="T4" fmla="*/ 7000 w 1000"/>
                <a:gd name="T5" fmla="*/ 500 h 1000"/>
                <a:gd name="T6" fmla="*/ 6500 w 1000"/>
                <a:gd name="T7" fmla="*/ 1000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500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1000"/>
                    <a:pt x="650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 altLang="el-GR" sz="2400">
                <a:latin typeface="Times New Roman" panose="02020603050405020304" pitchFamily="18" charset="0"/>
              </a:endParaRPr>
            </a:p>
          </p:txBody>
        </p:sp>
        <p:sp>
          <p:nvSpPr>
            <p:cNvPr id="12293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228600"/>
            <a:ext cx="7239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l-GR" altLang="el-GR"/>
              <a:t>Click to edit Master title style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 altLang="el-GR"/>
              <a:t>Click to edit Master text styles</a:t>
            </a:r>
          </a:p>
          <a:p>
            <a:pPr lvl="1"/>
            <a:r>
              <a:rPr lang="el-GR" altLang="el-GR"/>
              <a:t>Second level</a:t>
            </a:r>
          </a:p>
          <a:p>
            <a:pPr lvl="2"/>
            <a:r>
              <a:rPr lang="el-GR" altLang="el-GR"/>
              <a:t>Third level</a:t>
            </a:r>
          </a:p>
          <a:p>
            <a:pPr lvl="3"/>
            <a:r>
              <a:rPr lang="el-GR" altLang="el-GR"/>
              <a:t>Fourth level</a:t>
            </a:r>
          </a:p>
          <a:p>
            <a:pPr lvl="4"/>
            <a:r>
              <a:rPr lang="el-GR" altLang="el-GR"/>
              <a:t>Fifth level</a:t>
            </a:r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9E19B60E-50DA-4C43-8696-24448106F9FE}" type="datetime1">
              <a:rPr lang="el-GR" altLang="el-GR"/>
              <a:pPr/>
              <a:t>18/11/2018</a:t>
            </a:fld>
            <a:endParaRPr lang="el-GR" altLang="el-GR"/>
          </a:p>
        </p:txBody>
      </p:sp>
      <p:sp>
        <p:nvSpPr>
          <p:cNvPr id="1229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404B6BB9-B2A7-485A-BB1A-2445EEAE016B}" type="slidenum">
              <a:rPr lang="el-GR" altLang="el-GR"/>
              <a:pPr/>
              <a:t>‹#›</a:t>
            </a:fld>
            <a:endParaRPr lang="el-GR" altLang="el-GR"/>
          </a:p>
        </p:txBody>
      </p:sp>
      <p:pic>
        <p:nvPicPr>
          <p:cNvPr id="2050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58932"/>
            <a:ext cx="984785" cy="88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8"/>
          <p:cNvSpPr txBox="1">
            <a:spLocks noChangeArrowheads="1"/>
          </p:cNvSpPr>
          <p:nvPr userDrawn="1"/>
        </p:nvSpPr>
        <p:spPr bwMode="auto">
          <a:xfrm>
            <a:off x="2667000" y="6248400"/>
            <a:ext cx="4497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l-G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l-GR" altLang="el-GR" dirty="0"/>
              <a:t>Σχεδιασμός και Ανάπτυξη Εφαρμογών Κινητού Υπολογισμού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entury Gothic" panose="020B0502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searchnetworking.techtarget.com/definition/triangulation" TargetMode="External"/><Relationship Id="rId3" Type="http://schemas.openxmlformats.org/officeDocument/2006/relationships/hyperlink" Target="http://www.uky.edu/~jclark/mas490apps/History%20of%20Mobile%20Apps.pdf" TargetMode="External"/><Relationship Id="rId7" Type="http://schemas.openxmlformats.org/officeDocument/2006/relationships/hyperlink" Target="https://en.wikipedia.org/wiki/Mobile_phone_tracking" TargetMode="External"/><Relationship Id="rId2" Type="http://schemas.openxmlformats.org/officeDocument/2006/relationships/hyperlink" Target="https://en.wikipedia.org/wiki/Location-based_ser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eb_application" TargetMode="External"/><Relationship Id="rId5" Type="http://schemas.openxmlformats.org/officeDocument/2006/relationships/hyperlink" Target="https://el.wikipedia.org/wiki/%CE%94%CE%B9%CE%B1%CE%B4%CE%B9%CE%BA%CF%84%CF%85%CE%B1%CE%BA%CE%AE_%CE%B5%CF%86%CE%B1%CF%81%CE%BC%CE%BF%CE%B3%CE%AE" TargetMode="External"/><Relationship Id="rId4" Type="http://schemas.openxmlformats.org/officeDocument/2006/relationships/hyperlink" Target="https://en.wikipedia.org/wiki/Wireless_Application_Protocol" TargetMode="External"/><Relationship Id="rId9" Type="http://schemas.openxmlformats.org/officeDocument/2006/relationships/hyperlink" Target="https://el.wikipedia.org/wiki/Global_Positioning_Syste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2988" y="1484313"/>
            <a:ext cx="7129462" cy="1470025"/>
          </a:xfrm>
        </p:spPr>
        <p:txBody>
          <a:bodyPr/>
          <a:lstStyle/>
          <a:p>
            <a:r>
              <a:rPr lang="en-US" altLang="el-GR" sz="3000" b="1" dirty="0"/>
              <a:t>Mobile Apps and Location Based Services</a:t>
            </a:r>
            <a:endParaRPr lang="el-GR" altLang="el-GR" sz="30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42988" y="3441700"/>
            <a:ext cx="6629400" cy="733425"/>
          </a:xfrm>
        </p:spPr>
        <p:txBody>
          <a:bodyPr/>
          <a:lstStyle/>
          <a:p>
            <a:r>
              <a:rPr lang="el-GR" altLang="el-GR" b="1" dirty="0">
                <a:solidFill>
                  <a:schemeClr val="folHlink"/>
                </a:solidFill>
              </a:rPr>
              <a:t>Αθανάσιος Μπόνης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201738" y="116632"/>
            <a:ext cx="70706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400" b="1" dirty="0">
                <a:solidFill>
                  <a:schemeClr val="bg2"/>
                </a:solidFill>
              </a:rPr>
              <a:t>Εργασία Μαθήματος</a:t>
            </a:r>
            <a:r>
              <a:rPr lang="el-GR" altLang="el-GR" sz="2400" b="1" i="1" dirty="0">
                <a:solidFill>
                  <a:schemeClr val="bg2"/>
                </a:solidFill>
              </a:rPr>
              <a:t> Σχεδιασμός και Ανάπτυξη </a:t>
            </a:r>
          </a:p>
          <a:p>
            <a:r>
              <a:rPr lang="el-GR" altLang="el-GR" sz="2400" b="1" i="1" dirty="0">
                <a:solidFill>
                  <a:schemeClr val="bg2"/>
                </a:solidFill>
              </a:rPr>
              <a:t>Εφαρμογών Κινητού Υπολογισμού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Περιεχόμενα Θέματος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Γενική περιγραφή και ιστορική αναδρομή των </a:t>
            </a:r>
            <a:r>
              <a:rPr lang="en-US" dirty="0"/>
              <a:t>Mobile Apps</a:t>
            </a:r>
            <a:endParaRPr lang="el-GR" dirty="0"/>
          </a:p>
          <a:p>
            <a:r>
              <a:rPr lang="el-GR" dirty="0"/>
              <a:t>Γενική περιγραφή των </a:t>
            </a:r>
            <a:r>
              <a:rPr lang="en-US" dirty="0"/>
              <a:t>Location Based Services (LBS)</a:t>
            </a:r>
          </a:p>
          <a:p>
            <a:r>
              <a:rPr lang="el-GR" dirty="0"/>
              <a:t>Τα </a:t>
            </a:r>
            <a:r>
              <a:rPr lang="en-US" dirty="0"/>
              <a:t>LBS </a:t>
            </a:r>
            <a:r>
              <a:rPr lang="el-GR" dirty="0"/>
              <a:t>μέσω των </a:t>
            </a:r>
            <a:r>
              <a:rPr lang="en-US" dirty="0"/>
              <a:t>Mobile Apps</a:t>
            </a:r>
            <a:r>
              <a:rPr lang="el-GR" dirty="0"/>
              <a:t> και οι τεχνολογίες που χρησιμοποιούνται για την ανάπτυξη τους</a:t>
            </a:r>
          </a:p>
          <a:p>
            <a:r>
              <a:rPr lang="el-GR" dirty="0"/>
              <a:t>Συμπεράσματα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2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40500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7147-A3FB-4A75-85EC-DF655000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Apps - </a:t>
            </a:r>
            <a:r>
              <a:rPr lang="el-GR" dirty="0"/>
              <a:t>Γενικά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64F8-0DFF-4D72-B1F1-1831A9040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Ραγδαία εξέλιξη με την πάροδο του χρόνου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5FC1-94B5-4C18-8795-87C832D5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326A-BBB2-47B0-81C2-CD419801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3</a:t>
            </a:fld>
            <a:endParaRPr lang="el-GR" altLang="el-G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62C79-5F2A-42AF-95BD-95EDFACB5F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92276"/>
            <a:ext cx="5328592" cy="3327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8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8E9F-0248-4E18-A8A7-51E8CBB2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Apps – </a:t>
            </a:r>
            <a:r>
              <a:rPr lang="el-GR" dirty="0"/>
              <a:t>Τα είδη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CB65-7D2E-4A36-B727-49554F10D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7977"/>
            <a:ext cx="7924800" cy="4419600"/>
          </a:xfrm>
        </p:spPr>
        <p:txBody>
          <a:bodyPr/>
          <a:lstStyle/>
          <a:p>
            <a:r>
              <a:rPr lang="en-US" dirty="0"/>
              <a:t>Native App</a:t>
            </a:r>
          </a:p>
          <a:p>
            <a:pPr lvl="1"/>
            <a:r>
              <a:rPr lang="el-GR" dirty="0"/>
              <a:t>Τρέχει απευθείας πάνω στο λειτουργικό σύστημα της συσκευής</a:t>
            </a:r>
            <a:endParaRPr lang="en-US" dirty="0"/>
          </a:p>
          <a:p>
            <a:r>
              <a:rPr lang="en-US" dirty="0"/>
              <a:t>Web App</a:t>
            </a:r>
            <a:endParaRPr lang="el-GR" dirty="0"/>
          </a:p>
          <a:p>
            <a:pPr lvl="1"/>
            <a:r>
              <a:rPr lang="el-GR" dirty="0"/>
              <a:t>Χρήση μέσω </a:t>
            </a:r>
            <a:r>
              <a:rPr lang="en-US" dirty="0"/>
              <a:t>Browser</a:t>
            </a:r>
          </a:p>
          <a:p>
            <a:pPr lvl="1"/>
            <a:r>
              <a:rPr lang="el-GR" dirty="0"/>
              <a:t>Προσπέλαση από κάθε τύπο συσκευής</a:t>
            </a:r>
            <a:endParaRPr lang="en-US" dirty="0"/>
          </a:p>
          <a:p>
            <a:r>
              <a:rPr lang="en-US" dirty="0"/>
              <a:t>Hybrid</a:t>
            </a:r>
            <a:endParaRPr lang="el-GR" dirty="0"/>
          </a:p>
          <a:p>
            <a:pPr lvl="1"/>
            <a:r>
              <a:rPr lang="el-GR" dirty="0"/>
              <a:t>Ανάπτυξη ως </a:t>
            </a:r>
            <a:r>
              <a:rPr lang="en-US" dirty="0"/>
              <a:t>Web App</a:t>
            </a:r>
            <a:r>
              <a:rPr lang="el-GR" dirty="0"/>
              <a:t>, με την διαφορά ότι τρέχει σαν </a:t>
            </a:r>
            <a:r>
              <a:rPr lang="en-US" dirty="0"/>
              <a:t>Native </a:t>
            </a:r>
            <a:r>
              <a:rPr lang="el-GR" dirty="0"/>
              <a:t>μέσω ενός καλύμματος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334DA-079C-4F1A-AD8C-0D4A7641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E3662-67F7-4AEC-8A4D-9AB01C2F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4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7435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E17E-5243-4E49-80B2-FF93702B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Υπηρεσίες Βάσει Τοποθεσίας </a:t>
            </a:r>
            <a:r>
              <a:rPr lang="en-US" dirty="0"/>
              <a:t>– Location Based Services (LBS)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2958-D6C6-4DC7-8E5F-DA6A4B87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Τι είναι;</a:t>
            </a:r>
          </a:p>
          <a:p>
            <a:pPr lvl="1"/>
            <a:r>
              <a:rPr lang="el-GR" dirty="0"/>
              <a:t>Υπηρεσίες λογισμικού που παρέχουν πληροφορίες και δεδομένα βάσει τοποθεσίας του χρήστη</a:t>
            </a:r>
          </a:p>
          <a:p>
            <a:r>
              <a:rPr lang="el-GR" dirty="0"/>
              <a:t>Που βοηθούν;</a:t>
            </a:r>
          </a:p>
          <a:p>
            <a:pPr lvl="1"/>
            <a:r>
              <a:rPr lang="el-GR" dirty="0"/>
              <a:t>Εφαρμογές στην υγεία, ασφάλεια, ψυχαγωγία και διασκέδαση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94242-9D85-473B-ACA9-A818DFF4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452CA-2712-4144-8359-055BE03D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5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75601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101F-72D0-4761-B337-9EC19E2E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Based Services – </a:t>
            </a:r>
            <a:r>
              <a:rPr lang="el-GR" dirty="0"/>
              <a:t>Ιστορική Αναδρομή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76354-35C0-4EAD-83DC-B0A3516C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7924800" cy="4419600"/>
          </a:xfrm>
        </p:spPr>
        <p:txBody>
          <a:bodyPr/>
          <a:lstStyle/>
          <a:p>
            <a:r>
              <a:rPr lang="el-GR" dirty="0"/>
              <a:t>Πρώτα βήματα στην δεκαετία του ’90</a:t>
            </a:r>
          </a:p>
          <a:p>
            <a:pPr lvl="1"/>
            <a:r>
              <a:rPr lang="el-GR" sz="1800" dirty="0"/>
              <a:t>Η εταιρία </a:t>
            </a:r>
            <a:r>
              <a:rPr lang="en-US" sz="1800" dirty="0"/>
              <a:t>International Teletrac Systems </a:t>
            </a:r>
            <a:r>
              <a:rPr lang="el-GR" sz="1800" dirty="0"/>
              <a:t>το 1990 παρουσίασε την πρώτη υπηρεσία εύρεσης κλεμμένου οχήματος.</a:t>
            </a:r>
          </a:p>
          <a:p>
            <a:pPr lvl="1"/>
            <a:r>
              <a:rPr lang="el-GR" sz="1800" dirty="0"/>
              <a:t>Το 1996, η Αμερικάνικη Ομοσπονδιακή Επιτροπή Επικοινωνίας ανάγκασε όλες τις επιχειρήσεις παροχής δικτύου κινητών συσκευών να εντοπίζουν τις κλήσεις έκτακτης ανάγκης.</a:t>
            </a:r>
          </a:p>
          <a:p>
            <a:pPr lvl="1"/>
            <a:r>
              <a:rPr lang="el-GR" sz="1800" dirty="0"/>
              <a:t>Το 1999 κατατέθηκε το πρώτο δίπλωμα ευρεσιτεχνίας στις ΗΠΑ που βασιζόταν στην </a:t>
            </a:r>
            <a:r>
              <a:rPr lang="en-US" sz="1800" dirty="0"/>
              <a:t>LBS </a:t>
            </a:r>
            <a:r>
              <a:rPr lang="el-GR" sz="1800" dirty="0"/>
              <a:t>τεχνολογία</a:t>
            </a:r>
          </a:p>
          <a:p>
            <a:r>
              <a:rPr lang="el-GR" dirty="0"/>
              <a:t>Πρώτη συσκευή με παροχές </a:t>
            </a:r>
            <a:r>
              <a:rPr lang="en-US" dirty="0"/>
              <a:t>LBS</a:t>
            </a:r>
          </a:p>
          <a:p>
            <a:pPr lvl="1"/>
            <a:r>
              <a:rPr lang="en-US" dirty="0"/>
              <a:t>Palm VII, </a:t>
            </a:r>
            <a:r>
              <a:rPr lang="el-GR" dirty="0"/>
              <a:t>το 1999, με εφαρμογές καιρού και ενημέρωσης κίνησης μέσω </a:t>
            </a:r>
            <a:r>
              <a:rPr lang="en-US" dirty="0"/>
              <a:t>T.K (Weather.com, TrafficTouch)</a:t>
            </a:r>
            <a:endParaRPr lang="el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6B75-9A0D-4160-8E5C-7508D4E2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7A140-6612-4104-84A0-7491E660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6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9275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D8A7-0A8C-41C3-9A0A-8E0813F2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Τρόποι Εντοπισμού Θέσης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3027-4792-42CE-8752-E8892459B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7194"/>
            <a:ext cx="7924800" cy="4419600"/>
          </a:xfrm>
        </p:spPr>
        <p:txBody>
          <a:bodyPr/>
          <a:lstStyle/>
          <a:p>
            <a:r>
              <a:rPr lang="en-US" dirty="0"/>
              <a:t>Control Plane Planning </a:t>
            </a:r>
            <a:r>
              <a:rPr lang="el-GR" dirty="0"/>
              <a:t>ή </a:t>
            </a:r>
            <a:r>
              <a:rPr lang="en-US" dirty="0"/>
              <a:t>Positioning</a:t>
            </a:r>
            <a:endParaRPr lang="el-GR" dirty="0"/>
          </a:p>
          <a:p>
            <a:pPr lvl="1"/>
            <a:r>
              <a:rPr lang="el-GR" dirty="0"/>
              <a:t>Τριγωνοποίηση σήματος μεταξύ των κυψελωτών δικτύων κινητής τηλεφωνίας</a:t>
            </a:r>
            <a:endParaRPr lang="en-US" dirty="0"/>
          </a:p>
          <a:p>
            <a:pPr lvl="1"/>
            <a:r>
              <a:rPr lang="en-US" dirty="0"/>
              <a:t>GPS (Global Positioning System)</a:t>
            </a:r>
            <a:endParaRPr lang="el-GR" dirty="0"/>
          </a:p>
          <a:p>
            <a:r>
              <a:rPr lang="en-US" dirty="0"/>
              <a:t>Self-Reported Positioning</a:t>
            </a:r>
            <a:endParaRPr lang="el-GR" dirty="0"/>
          </a:p>
          <a:p>
            <a:pPr lvl="1"/>
            <a:r>
              <a:rPr lang="el-GR" dirty="0"/>
              <a:t>Εξακρίβωση τοποθεσίας μέσω χειροκίνητης εισαγωγής (Διεύθυνση, στίγμα σε χάρτη)</a:t>
            </a:r>
          </a:p>
          <a:p>
            <a:r>
              <a:rPr lang="el-GR" dirty="0"/>
              <a:t>Άλλοι τρόποι</a:t>
            </a:r>
          </a:p>
          <a:p>
            <a:pPr lvl="1"/>
            <a:r>
              <a:rPr lang="en-US" sz="1800" dirty="0"/>
              <a:t>Wi-Fi </a:t>
            </a:r>
            <a:r>
              <a:rPr lang="el-GR" sz="1800" dirty="0"/>
              <a:t>και </a:t>
            </a:r>
            <a:r>
              <a:rPr lang="en-US" sz="1800" dirty="0"/>
              <a:t>Bluetooth Low Energy </a:t>
            </a:r>
            <a:r>
              <a:rPr lang="el-GR" sz="1800" dirty="0"/>
              <a:t>δίκτυα για εσωτερικούς χώρους</a:t>
            </a:r>
          </a:p>
          <a:p>
            <a:endParaRPr lang="el-GR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09352-5695-4452-B146-2E1F3D1B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C57CC-EBE8-4712-86FA-9B8684F4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7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59805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776F-F326-41EE-A396-5357FCF3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943" y="357695"/>
            <a:ext cx="7110114" cy="694051"/>
          </a:xfrm>
        </p:spPr>
        <p:txBody>
          <a:bodyPr/>
          <a:lstStyle/>
          <a:p>
            <a:r>
              <a:rPr lang="el-GR" dirty="0"/>
              <a:t>Τα </a:t>
            </a:r>
            <a:r>
              <a:rPr lang="en-US" dirty="0"/>
              <a:t>LBS </a:t>
            </a:r>
            <a:r>
              <a:rPr lang="el-GR" dirty="0"/>
              <a:t>μέσω των </a:t>
            </a:r>
            <a:r>
              <a:rPr lang="en-US" dirty="0"/>
              <a:t>Mobile Apps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2E17D8-8DEC-42E0-AB58-548F527A5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68" y="1523206"/>
            <a:ext cx="2949575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/>
              <a:t>Μεγάλη άνθιση των </a:t>
            </a:r>
            <a:r>
              <a:rPr lang="en-US" sz="2000" dirty="0"/>
              <a:t>LBS </a:t>
            </a:r>
            <a:r>
              <a:rPr lang="el-GR" sz="2000" dirty="0"/>
              <a:t>μέσω των </a:t>
            </a:r>
            <a:r>
              <a:rPr lang="en-US" sz="2000" dirty="0"/>
              <a:t>Mobile Apps </a:t>
            </a:r>
            <a:r>
              <a:rPr lang="el-GR" sz="2000" dirty="0"/>
              <a:t>την τελευταία δεκαετία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/>
              <a:t>Πολλά </a:t>
            </a:r>
            <a:r>
              <a:rPr lang="en-US" sz="2000" dirty="0"/>
              <a:t>Frameworks </a:t>
            </a:r>
            <a:r>
              <a:rPr lang="el-GR" sz="2000" dirty="0"/>
              <a:t>και </a:t>
            </a:r>
            <a:r>
              <a:rPr lang="en-US" sz="2000" dirty="0"/>
              <a:t>APIs </a:t>
            </a:r>
            <a:r>
              <a:rPr lang="el-GR" sz="2000" dirty="0"/>
              <a:t>για την βοήθεια του προγραμματιστή στην ανάπτυξη εφαρμογών με </a:t>
            </a:r>
            <a:r>
              <a:rPr lang="en-US" sz="2000" dirty="0"/>
              <a:t>LBS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5ADDC-EF48-4017-94C4-D7E3EC56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321A2-D6C3-474B-B10E-9AA23B8D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8</a:t>
            </a:fld>
            <a:endParaRPr lang="el-GR" altLang="el-G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4C6027-DB6F-4C03-9FE0-F71D4C2B04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568394"/>
            <a:ext cx="4608512" cy="32287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56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8CDF-5715-48E4-B05F-EEA42266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LBS </a:t>
            </a:r>
            <a:r>
              <a:rPr lang="el-GR" dirty="0"/>
              <a:t>ως προς τον χρήστη και ως προς τις εταιρίες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E0152-DF36-4899-9C41-95A58194F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7924800" cy="4419600"/>
          </a:xfrm>
        </p:spPr>
        <p:txBody>
          <a:bodyPr/>
          <a:lstStyle/>
          <a:p>
            <a:r>
              <a:rPr lang="el-GR" dirty="0"/>
              <a:t>Προτεινόμενες κοντινές ενέργειες</a:t>
            </a:r>
          </a:p>
          <a:p>
            <a:pPr lvl="1"/>
            <a:r>
              <a:rPr lang="el-GR" dirty="0"/>
              <a:t>Υπηρεσίες </a:t>
            </a:r>
            <a:r>
              <a:rPr lang="en-US" dirty="0"/>
              <a:t>(ATM)</a:t>
            </a:r>
            <a:endParaRPr lang="el-GR" dirty="0"/>
          </a:p>
          <a:p>
            <a:pPr lvl="1"/>
            <a:r>
              <a:rPr lang="el-GR" dirty="0"/>
              <a:t>Εκδηλώσεις</a:t>
            </a:r>
            <a:r>
              <a:rPr lang="en-US" dirty="0"/>
              <a:t> (</a:t>
            </a:r>
            <a:r>
              <a:rPr lang="el-GR" dirty="0"/>
              <a:t>Παραστάσεις, συναυλίες)</a:t>
            </a:r>
          </a:p>
          <a:p>
            <a:pPr lvl="1"/>
            <a:r>
              <a:rPr lang="el-GR" dirty="0"/>
              <a:t>Εστιατόρια και Μπαρ διασκέδασης</a:t>
            </a:r>
          </a:p>
          <a:p>
            <a:pPr lvl="1"/>
            <a:r>
              <a:rPr lang="el-GR" dirty="0"/>
              <a:t>Μέσα Μαζικής Μεταφοράς (Μετρό, Ταξί, </a:t>
            </a:r>
            <a:r>
              <a:rPr lang="en-US" dirty="0"/>
              <a:t>Uber)</a:t>
            </a:r>
            <a:endParaRPr lang="el-GR" dirty="0"/>
          </a:p>
          <a:p>
            <a:r>
              <a:rPr lang="el-GR" dirty="0"/>
              <a:t>Υγεία, αθλητισμός</a:t>
            </a:r>
          </a:p>
          <a:p>
            <a:pPr lvl="1"/>
            <a:r>
              <a:rPr lang="el-GR" dirty="0"/>
              <a:t>Ειδοποίηση συμβάντος</a:t>
            </a:r>
          </a:p>
          <a:p>
            <a:pPr lvl="1"/>
            <a:r>
              <a:rPr lang="el-GR" dirty="0"/>
              <a:t>Παρακολούθηση προπόνησης </a:t>
            </a:r>
            <a:r>
              <a:rPr lang="en-US" dirty="0"/>
              <a:t>(Garmin)</a:t>
            </a:r>
            <a:endParaRPr lang="el-GR" dirty="0"/>
          </a:p>
          <a:p>
            <a:pPr marL="51435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8FFF0-0E62-497C-A3EE-98D7771E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9840F-E234-459A-9885-B66AEC4A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9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5038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DC30-38DC-44B7-957B-387F0202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Χρήση </a:t>
            </a:r>
            <a:r>
              <a:rPr lang="en-US" dirty="0"/>
              <a:t>GPS </a:t>
            </a:r>
            <a:r>
              <a:rPr lang="el-GR" dirty="0"/>
              <a:t>στα </a:t>
            </a:r>
            <a:r>
              <a:rPr lang="en-US" dirty="0"/>
              <a:t>Mobile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49DD-3691-4846-9E35-A63257CD3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Προσδιορισμός τοποθεσίας και στις 3 πλατφόρμες Εφαρμογών (</a:t>
            </a:r>
            <a:r>
              <a:rPr lang="en-US" dirty="0"/>
              <a:t>Native, Hybrid, Web </a:t>
            </a:r>
            <a:r>
              <a:rPr lang="el-GR" dirty="0"/>
              <a:t>-από την </a:t>
            </a:r>
            <a:r>
              <a:rPr lang="en-US" dirty="0"/>
              <a:t>HTML5)</a:t>
            </a:r>
          </a:p>
          <a:p>
            <a:r>
              <a:rPr lang="en-US" dirty="0"/>
              <a:t>Android – Android.Location</a:t>
            </a:r>
          </a:p>
          <a:p>
            <a:r>
              <a:rPr lang="en-US" dirty="0"/>
              <a:t>iOS – CLLocationManager</a:t>
            </a:r>
          </a:p>
          <a:p>
            <a:r>
              <a:rPr lang="en-US" dirty="0"/>
              <a:t>Xamarin.Forms – Geocoder</a:t>
            </a:r>
          </a:p>
          <a:p>
            <a:r>
              <a:rPr lang="en-US" dirty="0"/>
              <a:t>Web – Geolocation API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1F0E-42E4-4286-8342-95FAFCFA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CB2F0-8DA4-4112-8B5C-42359118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10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118251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FB9E-73DD-4C7E-870D-AFD4862A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28600"/>
            <a:ext cx="7239000" cy="914400"/>
          </a:xfrm>
        </p:spPr>
        <p:txBody>
          <a:bodyPr/>
          <a:lstStyle/>
          <a:p>
            <a:r>
              <a:rPr lang="el-GR"/>
              <a:t>Τμήματα κώδικα για την χρήση </a:t>
            </a:r>
            <a:r>
              <a:rPr lang="en-US"/>
              <a:t>GPS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ECA75-D307-475A-B14F-03C462AB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EB64C-E8B6-45CD-B6BA-1D620081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fld id="{7C806199-4E63-4D8B-8A88-D7527E45FB0A}" type="slidenum">
              <a:rPr lang="el-GR" altLang="el-GR" smtClean="0"/>
              <a:pPr/>
              <a:t>11</a:t>
            </a:fld>
            <a:endParaRPr lang="el-GR" altLang="el-GR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AEC059-79BA-4B44-BD8C-69AF71E5A89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578027"/>
            <a:ext cx="437197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9E839-D47B-4353-9CE2-05A63A7B5F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344" y="3836453"/>
            <a:ext cx="4371975" cy="10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B1764-945A-43BE-8855-4551CC3CD3C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344" y="2735441"/>
            <a:ext cx="4353157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CC68AE-DC3D-45C1-916B-B6D4F879A09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344" y="5048887"/>
            <a:ext cx="4483862" cy="88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FD3A66-5B73-4141-B4A1-9DCEC6E8CBCB}"/>
              </a:ext>
            </a:extLst>
          </p:cNvPr>
          <p:cNvSpPr txBox="1"/>
          <p:nvPr/>
        </p:nvSpPr>
        <p:spPr>
          <a:xfrm>
            <a:off x="776089" y="1771414"/>
            <a:ext cx="1885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Android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CCEBF3-B3E3-4BF2-8DE4-AA30560DCD60}"/>
              </a:ext>
            </a:extLst>
          </p:cNvPr>
          <p:cNvSpPr txBox="1"/>
          <p:nvPr/>
        </p:nvSpPr>
        <p:spPr>
          <a:xfrm>
            <a:off x="776089" y="2928828"/>
            <a:ext cx="1362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Swift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F8763-4298-4AE2-B602-AF1824DC545D}"/>
              </a:ext>
            </a:extLst>
          </p:cNvPr>
          <p:cNvSpPr txBox="1"/>
          <p:nvPr/>
        </p:nvSpPr>
        <p:spPr>
          <a:xfrm>
            <a:off x="776089" y="4086242"/>
            <a:ext cx="3273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Xamarin.Forms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EAD9B0-3A97-4A06-A94F-984812BFC1D2}"/>
              </a:ext>
            </a:extLst>
          </p:cNvPr>
          <p:cNvSpPr txBox="1"/>
          <p:nvPr/>
        </p:nvSpPr>
        <p:spPr>
          <a:xfrm>
            <a:off x="839316" y="5098763"/>
            <a:ext cx="130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48714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C556-B8C0-477B-86E0-FA3FD37A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28600"/>
            <a:ext cx="7344866" cy="914400"/>
          </a:xfrm>
        </p:spPr>
        <p:txBody>
          <a:bodyPr/>
          <a:lstStyle/>
          <a:p>
            <a:r>
              <a:rPr lang="el-GR" dirty="0"/>
              <a:t>Χάρτες και τα εργαλεία τους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452C-E684-41BE-8E6A-38455A5F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5900"/>
            <a:ext cx="7924800" cy="4419600"/>
          </a:xfrm>
        </p:spPr>
        <p:txBody>
          <a:bodyPr/>
          <a:lstStyle/>
          <a:p>
            <a:r>
              <a:rPr lang="el-GR" dirty="0"/>
              <a:t>Τα δύο πιο διαδεδομένα </a:t>
            </a:r>
            <a:r>
              <a:rPr lang="en-US" dirty="0"/>
              <a:t>API </a:t>
            </a:r>
            <a:r>
              <a:rPr lang="el-GR" dirty="0"/>
              <a:t>για παροχή χαρτών είναι:</a:t>
            </a:r>
            <a:endParaRPr lang="en-US" dirty="0"/>
          </a:p>
          <a:p>
            <a:pPr lvl="1"/>
            <a:r>
              <a:rPr lang="en-US" dirty="0"/>
              <a:t>Google Maps API</a:t>
            </a:r>
          </a:p>
          <a:p>
            <a:pPr lvl="1"/>
            <a:r>
              <a:rPr lang="en-US" dirty="0"/>
              <a:t>Bing Maps API</a:t>
            </a:r>
          </a:p>
          <a:p>
            <a:r>
              <a:rPr lang="el-GR" dirty="0"/>
              <a:t>Παροχή πολλών εργαλείων μέσω των </a:t>
            </a:r>
            <a:r>
              <a:rPr lang="en-US" dirty="0"/>
              <a:t>API</a:t>
            </a:r>
          </a:p>
          <a:p>
            <a:pPr lvl="1"/>
            <a:r>
              <a:rPr lang="en-US" dirty="0"/>
              <a:t>Touch Events</a:t>
            </a:r>
          </a:p>
          <a:p>
            <a:pPr lvl="1"/>
            <a:r>
              <a:rPr lang="en-US" dirty="0"/>
              <a:t>Pins</a:t>
            </a:r>
            <a:endParaRPr lang="el-GR" dirty="0"/>
          </a:p>
          <a:p>
            <a:pPr lvl="1"/>
            <a:r>
              <a:rPr lang="el-GR" dirty="0"/>
              <a:t>Αναγνώριση τοποθεσίας αυτόματα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C40C1-8089-4092-9C5E-39FFAF1B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F7467-42F6-4EA1-9745-91A02CF7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12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60768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C556-B8C0-477B-86E0-FA3FD37A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28600"/>
            <a:ext cx="7344866" cy="914400"/>
          </a:xfrm>
        </p:spPr>
        <p:txBody>
          <a:bodyPr/>
          <a:lstStyle/>
          <a:p>
            <a:r>
              <a:rPr lang="el-GR" dirty="0"/>
              <a:t>Τρόπος ενσωμάτωσης χαρτών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452C-E684-41BE-8E6A-38455A5F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5900"/>
            <a:ext cx="7924800" cy="4419600"/>
          </a:xfrm>
        </p:spPr>
        <p:txBody>
          <a:bodyPr/>
          <a:lstStyle/>
          <a:p>
            <a:r>
              <a:rPr lang="el-GR" dirty="0"/>
              <a:t>Η ενσωμάτωση χαρτών σε μια κινητή εφαρμογή είναι μια εύκολη διαδικασία με απλά βήματα</a:t>
            </a:r>
          </a:p>
          <a:p>
            <a:pPr lvl="1"/>
            <a:r>
              <a:rPr lang="el-GR" dirty="0"/>
              <a:t>Λογαριασμός ώστε να αποκτηθεί πρόσβαση στο </a:t>
            </a:r>
            <a:r>
              <a:rPr lang="en-US" dirty="0"/>
              <a:t>Developer Console</a:t>
            </a:r>
            <a:endParaRPr lang="el-GR" dirty="0"/>
          </a:p>
          <a:p>
            <a:pPr lvl="1"/>
            <a:r>
              <a:rPr lang="el-GR" dirty="0"/>
              <a:t>Απόκτηση </a:t>
            </a:r>
            <a:r>
              <a:rPr lang="en-US" dirty="0"/>
              <a:t>API Key </a:t>
            </a:r>
            <a:r>
              <a:rPr lang="el-GR" dirty="0"/>
              <a:t>για την ενεργοποίηση του χάρτη</a:t>
            </a:r>
          </a:p>
          <a:p>
            <a:pPr lvl="1"/>
            <a:r>
              <a:rPr lang="el-GR" dirty="0"/>
              <a:t>Βήματα με απόλυτη απλότητα μέσω του </a:t>
            </a:r>
            <a:r>
              <a:rPr lang="en-US" dirty="0"/>
              <a:t>Documentation </a:t>
            </a:r>
            <a:r>
              <a:rPr lang="el-GR" dirty="0"/>
              <a:t>των </a:t>
            </a:r>
            <a:r>
              <a:rPr lang="en-US" dirty="0"/>
              <a:t>APIs</a:t>
            </a:r>
          </a:p>
          <a:p>
            <a:pPr lvl="1"/>
            <a:endParaRPr lang="el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C40C1-8089-4092-9C5E-39FFAF1B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F7467-42F6-4EA1-9745-91A02CF7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13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55066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0DA2-3CD4-409E-9EAB-E3B9B0DF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Συμπεράσματα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E627-5CBD-487E-98B7-5596C618B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Συνεχής ανάπτυξη των εφαρμογών με παροχή </a:t>
            </a:r>
            <a:r>
              <a:rPr lang="en-US" dirty="0"/>
              <a:t>LBS</a:t>
            </a:r>
          </a:p>
          <a:p>
            <a:r>
              <a:rPr lang="el-GR" dirty="0"/>
              <a:t>Πιο ισχυρά εργαλεία ανάπτυξης με την πάροδο του χρόνου λόγω ζήτησης</a:t>
            </a:r>
          </a:p>
          <a:p>
            <a:r>
              <a:rPr lang="el-GR" dirty="0"/>
              <a:t>Λύσεις σε πολλά καθημερινά προβλήματα του μέσου ανθρώπου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214BE-4D46-4D52-90E8-BC357B9A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43AB9-38D2-40F5-8740-43B444A9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14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32248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957D-1F72-4030-BEA7-264D2337F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Βιβλιογραφία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F36A-067D-496B-A5D8-A941D3022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sz="1800" u="sng" dirty="0">
                <a:hlinkClick r:id="rId2"/>
              </a:rPr>
              <a:t>https://en.wikipedia.org/wiki/Location-based_service</a:t>
            </a:r>
            <a:endParaRPr lang="en-US" sz="1800" dirty="0"/>
          </a:p>
          <a:p>
            <a:r>
              <a:rPr lang="el-GR" sz="1800" u="sng" dirty="0">
                <a:hlinkClick r:id="rId3"/>
              </a:rPr>
              <a:t>http://www.uky.edu/~jclark/mas490apps/History%20of%20Mobile%20Apps.pdf</a:t>
            </a:r>
            <a:endParaRPr lang="en-US" sz="1800" dirty="0"/>
          </a:p>
          <a:p>
            <a:r>
              <a:rPr lang="en-US" sz="1800" u="sng" dirty="0">
                <a:hlinkClick r:id="rId4"/>
              </a:rPr>
              <a:t>https</a:t>
            </a:r>
            <a:r>
              <a:rPr lang="el-GR" sz="1800" u="sng" dirty="0">
                <a:hlinkClick r:id="rId4"/>
              </a:rPr>
              <a:t>://</a:t>
            </a:r>
            <a:r>
              <a:rPr lang="en-US" sz="1800" u="sng" dirty="0">
                <a:hlinkClick r:id="rId4"/>
              </a:rPr>
              <a:t>en</a:t>
            </a:r>
            <a:r>
              <a:rPr lang="el-GR" sz="1800" u="sng" dirty="0">
                <a:hlinkClick r:id="rId4"/>
              </a:rPr>
              <a:t>.</a:t>
            </a:r>
            <a:r>
              <a:rPr lang="en-US" sz="1800" u="sng" dirty="0">
                <a:hlinkClick r:id="rId4"/>
              </a:rPr>
              <a:t>wikipedia</a:t>
            </a:r>
            <a:r>
              <a:rPr lang="el-GR" sz="1800" u="sng" dirty="0">
                <a:hlinkClick r:id="rId4"/>
              </a:rPr>
              <a:t>.</a:t>
            </a:r>
            <a:r>
              <a:rPr lang="en-US" sz="1800" u="sng" dirty="0">
                <a:hlinkClick r:id="rId4"/>
              </a:rPr>
              <a:t>org</a:t>
            </a:r>
            <a:r>
              <a:rPr lang="el-GR" sz="1800" u="sng" dirty="0">
                <a:hlinkClick r:id="rId4"/>
              </a:rPr>
              <a:t>/</a:t>
            </a:r>
            <a:r>
              <a:rPr lang="en-US" sz="1800" u="sng" dirty="0">
                <a:hlinkClick r:id="rId4"/>
              </a:rPr>
              <a:t>wiki</a:t>
            </a:r>
            <a:r>
              <a:rPr lang="el-GR" sz="1800" u="sng" dirty="0">
                <a:hlinkClick r:id="rId4"/>
              </a:rPr>
              <a:t>/</a:t>
            </a:r>
            <a:r>
              <a:rPr lang="en-US" sz="1800" u="sng" dirty="0">
                <a:hlinkClick r:id="rId4"/>
              </a:rPr>
              <a:t>Wireless</a:t>
            </a:r>
            <a:r>
              <a:rPr lang="el-GR" sz="1800" u="sng" dirty="0">
                <a:hlinkClick r:id="rId4"/>
              </a:rPr>
              <a:t>_</a:t>
            </a:r>
            <a:r>
              <a:rPr lang="en-US" sz="1800" u="sng" dirty="0">
                <a:hlinkClick r:id="rId4"/>
              </a:rPr>
              <a:t>Application</a:t>
            </a:r>
            <a:r>
              <a:rPr lang="el-GR" sz="1800" u="sng" dirty="0">
                <a:hlinkClick r:id="rId4"/>
              </a:rPr>
              <a:t>_</a:t>
            </a:r>
            <a:r>
              <a:rPr lang="en-US" sz="1800" u="sng" dirty="0">
                <a:hlinkClick r:id="rId4"/>
              </a:rPr>
              <a:t>Protocol</a:t>
            </a:r>
            <a:endParaRPr lang="en-US" sz="1800" dirty="0"/>
          </a:p>
          <a:p>
            <a:r>
              <a:rPr lang="el-GR" sz="1800" u="sng" dirty="0">
                <a:hlinkClick r:id="rId5"/>
              </a:rPr>
              <a:t>https://el.wikipedia.org/wiki/%CE%94%CE%B9%CE%B1%CE%B4%CE%B9%CE%BA%CF%84%CF%85%CE%B1%CE%BA%CE%AE_%CE%B5%CF%86%CE%B1%CF%81%CE%BC%CE%BF%CE%B3%CE%AE</a:t>
            </a:r>
            <a:endParaRPr lang="en-US" sz="1800" dirty="0"/>
          </a:p>
          <a:p>
            <a:r>
              <a:rPr lang="el-GR" sz="1800" u="sng" dirty="0">
                <a:hlinkClick r:id="rId6"/>
              </a:rPr>
              <a:t>https://en.wikipedia.org/wiki/Web_application</a:t>
            </a:r>
            <a:endParaRPr lang="en-US" sz="1800" dirty="0"/>
          </a:p>
          <a:p>
            <a:r>
              <a:rPr lang="el-GR" sz="1800" u="sng" dirty="0">
                <a:hlinkClick r:id="rId7"/>
              </a:rPr>
              <a:t>https://en.wikipedia.org/wiki/Mobile_phone_tracking</a:t>
            </a:r>
            <a:endParaRPr lang="en-US" sz="1800" dirty="0"/>
          </a:p>
          <a:p>
            <a:r>
              <a:rPr lang="el-GR" sz="1800" u="sng" dirty="0">
                <a:hlinkClick r:id="rId8"/>
              </a:rPr>
              <a:t>https://searchnetworking.techtarget.com/definition/triangulation</a:t>
            </a:r>
            <a:endParaRPr lang="en-US" sz="1800" dirty="0"/>
          </a:p>
          <a:p>
            <a:r>
              <a:rPr lang="el-GR" sz="1800" u="sng" dirty="0">
                <a:hlinkClick r:id="rId9"/>
              </a:rPr>
              <a:t>https://el.wikipedia.org/wiki/Global_Positioning_System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6B61A-2560-466D-9944-F5606AE8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A8CEA-DBC2-4A2D-9C68-4CFF8B79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15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66009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0224B5-BF8B-498B-B04A-726DED772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l-GR" b="1" dirty="0"/>
              <a:t>Ερωτήσεις;</a:t>
            </a:r>
            <a:endParaRPr lang="en-US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CED1DB-3E58-4919-9E05-6E075D0FE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b="1" dirty="0"/>
              <a:t>Ευχαριστώ για την προσοχή σας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DE167-851B-4CF4-A27B-9B2DB2A08A7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BB49077-91D3-4C11-827B-A1EE366B872C}" type="datetime1">
              <a:rPr lang="el-GR" altLang="el-GR" smtClean="0"/>
              <a:pPr/>
              <a:t>18/11/2018</a:t>
            </a:fld>
            <a:endParaRPr lang="el-GR" alt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2755E-0F66-4F33-A2FF-F4E3BB147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806199-4E63-4D8B-8A88-D7527E45FB0A}" type="slidenum">
              <a:rPr lang="el-GR" altLang="el-GR" smtClean="0"/>
              <a:pPr/>
              <a:t>16</a:t>
            </a:fld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151630769"/>
      </p:ext>
    </p:extLst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287</TotalTime>
  <Words>772</Words>
  <Application>Microsoft Office PowerPoint</Application>
  <PresentationFormat>On-screen Show (4:3)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Century Gothic</vt:lpstr>
      <vt:lpstr>Times New Roman</vt:lpstr>
      <vt:lpstr>Wingdings</vt:lpstr>
      <vt:lpstr>Radial</vt:lpstr>
      <vt:lpstr>Mobile Apps and Location Based Services</vt:lpstr>
      <vt:lpstr>Περιεχόμενα Θέματος</vt:lpstr>
      <vt:lpstr>Mobile Apps - Γενικά</vt:lpstr>
      <vt:lpstr>Mobile Apps – Τα είδη</vt:lpstr>
      <vt:lpstr>Υπηρεσίες Βάσει Τοποθεσίας – Location Based Services (LBS)</vt:lpstr>
      <vt:lpstr>Location Based Services – Ιστορική Αναδρομή</vt:lpstr>
      <vt:lpstr>Τρόποι Εντοπισμού Θέσης</vt:lpstr>
      <vt:lpstr>Τα LBS μέσω των Mobile Apps</vt:lpstr>
      <vt:lpstr>LBS ως προς τον χρήστη και ως προς τις εταιρίες</vt:lpstr>
      <vt:lpstr>Χρήση GPS στα Mobile Apps</vt:lpstr>
      <vt:lpstr>Τμήματα κώδικα για την χρήση GPS</vt:lpstr>
      <vt:lpstr>Χάρτες και τα εργαλεία τους</vt:lpstr>
      <vt:lpstr>Τρόπος ενσωμάτωσης χαρτών</vt:lpstr>
      <vt:lpstr>Συμπεράσματα</vt:lpstr>
      <vt:lpstr>Βιβλιογραφία</vt:lpstr>
      <vt:lpstr>Ερωτήσεις;</vt:lpstr>
    </vt:vector>
  </TitlesOfParts>
  <Company>RACTI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Προσθήκη τίτλου</dc:title>
  <dc:creator>C. Goumopoulos</dc:creator>
  <cp:lastModifiedBy>Athanasios Bonis</cp:lastModifiedBy>
  <cp:revision>12</cp:revision>
  <dcterms:created xsi:type="dcterms:W3CDTF">2004-07-16T16:35:59Z</dcterms:created>
  <dcterms:modified xsi:type="dcterms:W3CDTF">2018-11-18T15:45:44Z</dcterms:modified>
</cp:coreProperties>
</file>